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422" r:id="rId2"/>
    <p:sldId id="42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CBF6"/>
    <a:srgbClr val="F2F2F2"/>
    <a:srgbClr val="686868"/>
    <a:srgbClr val="212121"/>
    <a:srgbClr val="EC5D57"/>
    <a:srgbClr val="70BF41"/>
    <a:srgbClr val="6EE06E"/>
    <a:srgbClr val="CCCCCC"/>
    <a:srgbClr val="EEEEE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řední styl 2 – zvýraznění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94" autoAdjust="0"/>
    <p:restoredTop sz="69734" autoAdjust="0"/>
  </p:normalViewPr>
  <p:slideViewPr>
    <p:cSldViewPr snapToGrid="0">
      <p:cViewPr varScale="1">
        <p:scale>
          <a:sx n="77" d="100"/>
          <a:sy n="77" d="100"/>
        </p:scale>
        <p:origin x="1362" y="78"/>
      </p:cViewPr>
      <p:guideLst/>
    </p:cSldViewPr>
  </p:slideViewPr>
  <p:notesTextViewPr>
    <p:cViewPr>
      <p:scale>
        <a:sx n="125" d="100"/>
        <a:sy n="125" d="100"/>
      </p:scale>
      <p:origin x="0" y="-576"/>
    </p:cViewPr>
  </p:notesTextViewPr>
  <p:sorterViewPr>
    <p:cViewPr varScale="1">
      <p:scale>
        <a:sx n="100" d="100"/>
        <a:sy n="100" d="100"/>
      </p:scale>
      <p:origin x="0" y="-37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471BB-641A-4649-A02D-966FFC1B9B93}" type="datetimeFigureOut">
              <a:rPr lang="cs-CZ" smtClean="0"/>
              <a:t>24.04.2025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CD547-7519-4BFC-9BBF-4F3F9FA15F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710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decided to create two separate graphs to test out </a:t>
            </a:r>
            <a:r>
              <a:rPr lang="en-US" b="1" dirty="0"/>
              <a:t>different approaches </a:t>
            </a:r>
            <a:r>
              <a:rPr lang="en-US" dirty="0"/>
              <a:t>to the design.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First design is </a:t>
            </a:r>
            <a:r>
              <a:rPr lang="en-US" b="1" dirty="0"/>
              <a:t>fairly simple </a:t>
            </a:r>
            <a:r>
              <a:rPr lang="en-US" dirty="0"/>
              <a:t>with hopefully </a:t>
            </a:r>
            <a:r>
              <a:rPr lang="en-US" b="1" dirty="0"/>
              <a:t>better readability.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Second design is more complicated with </a:t>
            </a:r>
            <a:r>
              <a:rPr lang="en-US" b="1" dirty="0"/>
              <a:t>more details </a:t>
            </a:r>
            <a:r>
              <a:rPr lang="en-US" b="0" dirty="0"/>
              <a:t>which could be </a:t>
            </a:r>
            <a:r>
              <a:rPr lang="en-US" b="1" dirty="0"/>
              <a:t>harder to read.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Closing walls: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Designed as a </a:t>
            </a:r>
            <a:r>
              <a:rPr lang="en-US" b="1" dirty="0"/>
              <a:t>space</a:t>
            </a:r>
            <a:r>
              <a:rPr lang="en-US" b="0" dirty="0"/>
              <a:t> getting </a:t>
            </a:r>
            <a:r>
              <a:rPr lang="en-US" b="1" dirty="0"/>
              <a:t>progressively smaller </a:t>
            </a:r>
            <a:r>
              <a:rPr lang="en-US" b="0" dirty="0"/>
              <a:t>because of four </a:t>
            </a:r>
            <a:r>
              <a:rPr lang="en-US" b="1" dirty="0"/>
              <a:t>moving walls</a:t>
            </a:r>
            <a:r>
              <a:rPr lang="en-US" b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Wall is represented by a </a:t>
            </a:r>
            <a:r>
              <a:rPr lang="en-US" b="1" dirty="0"/>
              <a:t>simple line </a:t>
            </a:r>
            <a:r>
              <a:rPr lang="en-US" b="0" dirty="0"/>
              <a:t>whose thickness is interpolated from the </a:t>
            </a:r>
            <a:r>
              <a:rPr lang="en-US" b="1" dirty="0"/>
              <a:t>X value.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Walls </a:t>
            </a:r>
            <a:r>
              <a:rPr lang="en-US" b="1" dirty="0"/>
              <a:t>don’t actually move</a:t>
            </a:r>
            <a:r>
              <a:rPr lang="en-US" b="0" dirty="0"/>
              <a:t>, only the line </a:t>
            </a:r>
            <a:r>
              <a:rPr lang="en-US" b="1" dirty="0"/>
              <a:t>gets thicker</a:t>
            </a:r>
            <a:r>
              <a:rPr lang="en-US" b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Sun graph: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Inspired by </a:t>
            </a:r>
            <a:r>
              <a:rPr lang="en-US" b="1" dirty="0"/>
              <a:t>movement of the sun </a:t>
            </a:r>
            <a:r>
              <a:rPr lang="en-US" b="0" dirty="0"/>
              <a:t>and the </a:t>
            </a:r>
            <a:r>
              <a:rPr lang="en-US" b="1" dirty="0"/>
              <a:t>color of the sky </a:t>
            </a:r>
            <a:r>
              <a:rPr lang="en-US" b="0" dirty="0"/>
              <a:t>during the day.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Changed the </a:t>
            </a:r>
            <a:r>
              <a:rPr lang="en-US" b="1" dirty="0"/>
              <a:t>direction</a:t>
            </a:r>
            <a:r>
              <a:rPr lang="en-US" b="0" dirty="0"/>
              <a:t> of the movement (from east to west, right to left) to left to right because I feel its </a:t>
            </a:r>
            <a:r>
              <a:rPr lang="en-US" b="1" dirty="0"/>
              <a:t>more intuitive</a:t>
            </a:r>
            <a:r>
              <a:rPr lang="en-US" b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Orange color </a:t>
            </a:r>
            <a:r>
              <a:rPr lang="en-US" b="0" dirty="0"/>
              <a:t>tries to mimic color of the sky in </a:t>
            </a:r>
            <a:r>
              <a:rPr lang="en-US" b="1" dirty="0"/>
              <a:t>mornings and evenings.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Blue color </a:t>
            </a:r>
            <a:r>
              <a:rPr lang="en-US" b="0" dirty="0"/>
              <a:t>mimics color of the sky during the </a:t>
            </a:r>
            <a:r>
              <a:rPr lang="en-US" b="1" dirty="0"/>
              <a:t>day, </a:t>
            </a:r>
            <a:r>
              <a:rPr lang="en-US" b="0" dirty="0"/>
              <a:t>it also stays visible for a longer period.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Curved</a:t>
            </a:r>
            <a:r>
              <a:rPr lang="en-US" b="0" dirty="0"/>
              <a:t> path of the sun is calculated using a </a:t>
            </a:r>
            <a:r>
              <a:rPr lang="en-US" b="1" dirty="0"/>
              <a:t>quadratic equation.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At the end rays are drawn </a:t>
            </a:r>
            <a:r>
              <a:rPr lang="en-US" b="1" dirty="0"/>
              <a:t>around the sun</a:t>
            </a:r>
            <a:r>
              <a:rPr lang="en-US" b="0" dirty="0"/>
              <a:t>. They are </a:t>
            </a:r>
            <a:r>
              <a:rPr lang="en-US" b="1" dirty="0"/>
              <a:t>purposefully short </a:t>
            </a:r>
            <a:r>
              <a:rPr lang="en-US" b="0" dirty="0"/>
              <a:t>to not seem too cartoony, but they are needed to </a:t>
            </a:r>
            <a:r>
              <a:rPr lang="en-US" b="1" dirty="0"/>
              <a:t>clearly show </a:t>
            </a:r>
            <a:r>
              <a:rPr lang="en-US" b="0" dirty="0"/>
              <a:t>that the yellow ball is indeed </a:t>
            </a:r>
            <a:r>
              <a:rPr lang="en-US" b="1" dirty="0"/>
              <a:t>a sun</a:t>
            </a:r>
            <a:r>
              <a:rPr lang="en-US" b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CD547-7519-4BFC-9BBF-4F3F9FA15FCE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3335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9E6CB-E659-ABFF-F263-2BD60DBC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D62CF-C146-6099-743D-5AE482F2D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7D7E5-5B64-55FA-14E3-B188EE3EE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Performance/Self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Both graphs were tested on </a:t>
            </a:r>
            <a:r>
              <a:rPr lang="en-US" b="1" dirty="0"/>
              <a:t>200 comparisons each</a:t>
            </a:r>
            <a:r>
              <a:rPr lang="en-US" b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 was able to resolve comparisons of walls </a:t>
            </a:r>
            <a:r>
              <a:rPr lang="en-US" b="1" dirty="0"/>
              <a:t>quicker</a:t>
            </a:r>
            <a:r>
              <a:rPr lang="en-US" b="0" dirty="0"/>
              <a:t> than those of the sun.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This proves that in fact the closing walls graph is </a:t>
            </a:r>
            <a:r>
              <a:rPr lang="en-US" b="1" dirty="0"/>
              <a:t>easier to read </a:t>
            </a:r>
            <a:r>
              <a:rPr lang="en-US" b="0" dirty="0"/>
              <a:t>than the more detailed sun graph.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Both graphs had </a:t>
            </a:r>
            <a:r>
              <a:rPr lang="en-US" b="1" dirty="0"/>
              <a:t>similar success rate</a:t>
            </a:r>
            <a:r>
              <a:rPr lang="en-US" b="0" dirty="0"/>
              <a:t> of 89%. This can be seen as </a:t>
            </a:r>
            <a:r>
              <a:rPr lang="en-US" b="1" dirty="0"/>
              <a:t>disappointing</a:t>
            </a:r>
            <a:r>
              <a:rPr lang="en-US" b="0" dirty="0"/>
              <a:t> for the sun graph, but I can probably see where the main mistake of this design was.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Closing walls:</a:t>
            </a: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The error rate </a:t>
            </a:r>
            <a:r>
              <a:rPr lang="en-US" b="1" dirty="0"/>
              <a:t>kept falling linearly </a:t>
            </a:r>
            <a:r>
              <a:rPr lang="en-US" b="0" dirty="0"/>
              <a:t>to the </a:t>
            </a:r>
            <a:r>
              <a:rPr lang="en-US" b="1" dirty="0"/>
              <a:t>distance</a:t>
            </a:r>
            <a:r>
              <a:rPr lang="en-US" b="0" dirty="0"/>
              <a:t> of the compared graphs.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But</a:t>
            </a:r>
            <a:r>
              <a:rPr lang="en-US" b="0" dirty="0"/>
              <a:t> still at </a:t>
            </a:r>
            <a:r>
              <a:rPr lang="en-US" b="1" dirty="0"/>
              <a:t>small distances </a:t>
            </a:r>
            <a:r>
              <a:rPr lang="en-US" b="0" dirty="0"/>
              <a:t>it was difficult to determine </a:t>
            </a:r>
            <a:r>
              <a:rPr lang="en-US" b="1" dirty="0"/>
              <a:t>precisely the differences</a:t>
            </a:r>
            <a:r>
              <a:rPr lang="en-US" b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This can be attributed to small number of details in the graph.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Second graph shows that I have made </a:t>
            </a:r>
            <a:r>
              <a:rPr lang="en-US" b="1" dirty="0"/>
              <a:t>most mistakes </a:t>
            </a:r>
            <a:r>
              <a:rPr lang="en-US" b="0" dirty="0"/>
              <a:t>at lower values of X. This is probably because the area is </a:t>
            </a:r>
            <a:r>
              <a:rPr lang="en-US" b="1" dirty="0"/>
              <a:t>not fully covered </a:t>
            </a:r>
            <a:r>
              <a:rPr lang="en-US" b="0" dirty="0"/>
              <a:t>in walls and its </a:t>
            </a:r>
            <a:r>
              <a:rPr lang="en-US" b="1" dirty="0"/>
              <a:t>difficult</a:t>
            </a:r>
            <a:r>
              <a:rPr lang="en-US" b="0" dirty="0"/>
              <a:t> to properly compare them.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Sun graph: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Error rate </a:t>
            </a:r>
            <a:r>
              <a:rPr lang="en-US" b="1" dirty="0"/>
              <a:t>falls quicker </a:t>
            </a:r>
            <a:r>
              <a:rPr lang="en-US" b="0" dirty="0"/>
              <a:t>than in the closing walls, but it </a:t>
            </a:r>
            <a:r>
              <a:rPr lang="en-US" b="1" dirty="0"/>
              <a:t>doesn’t get as low.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It show that at smaller distances it was </a:t>
            </a:r>
            <a:r>
              <a:rPr lang="en-US" b="1" dirty="0"/>
              <a:t>easier to see differences </a:t>
            </a:r>
            <a:r>
              <a:rPr lang="en-US" b="0" dirty="0"/>
              <a:t>thanks to more details, but it is held back by an </a:t>
            </a:r>
            <a:r>
              <a:rPr lang="en-US" b="1" dirty="0"/>
              <a:t>error in design</a:t>
            </a:r>
            <a:r>
              <a:rPr lang="en-US" b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Second graph shows that I have made </a:t>
            </a:r>
            <a:r>
              <a:rPr lang="en-US" b="1" dirty="0"/>
              <a:t>most mistakes </a:t>
            </a:r>
            <a:r>
              <a:rPr lang="en-US" b="0" dirty="0"/>
              <a:t>around the X value of </a:t>
            </a:r>
            <a:r>
              <a:rPr lang="en-US" b="1" dirty="0"/>
              <a:t>50</a:t>
            </a:r>
            <a:r>
              <a:rPr lang="en-US" b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This shows the error of the design since the movement of the sun </a:t>
            </a:r>
            <a:r>
              <a:rPr lang="en-US" b="1" dirty="0"/>
              <a:t>slows down rapidly </a:t>
            </a:r>
            <a:r>
              <a:rPr lang="en-US" b="0" dirty="0"/>
              <a:t>at the maximum of the function and the color of the sky </a:t>
            </a:r>
            <a:r>
              <a:rPr lang="en-US" b="1" dirty="0"/>
              <a:t>remains still</a:t>
            </a:r>
            <a:r>
              <a:rPr lang="en-US" b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At X values around 50 it is </a:t>
            </a:r>
            <a:r>
              <a:rPr lang="en-US" b="1" dirty="0"/>
              <a:t>extremely difficult </a:t>
            </a:r>
            <a:r>
              <a:rPr lang="en-US" b="0" dirty="0"/>
              <a:t>to precisely </a:t>
            </a:r>
            <a:r>
              <a:rPr lang="en-US" b="1" dirty="0"/>
              <a:t>compare two graphs </a:t>
            </a:r>
            <a:r>
              <a:rPr lang="en-US" b="0" dirty="0"/>
              <a:t>next to each other.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If this issue was </a:t>
            </a:r>
            <a:r>
              <a:rPr lang="en-US" b="1" dirty="0"/>
              <a:t>fixed</a:t>
            </a:r>
            <a:r>
              <a:rPr lang="en-US" b="0" dirty="0"/>
              <a:t>, I think the success rate would be </a:t>
            </a:r>
            <a:r>
              <a:rPr lang="en-US" b="1" dirty="0"/>
              <a:t>considerably higher </a:t>
            </a:r>
            <a:r>
              <a:rPr lang="en-US" b="0" dirty="0"/>
              <a:t>than that of closing walls graph.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8DBDD-2ACA-359D-FEB9-DA3BCB814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CD547-7519-4BFC-9BBF-4F3F9FA15FCE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3511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6BC7-D9F8-4E40-BAE2-BFF606833407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46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09B75-2939-4931-8719-8233198A1D0B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38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AF77-DE67-4A58-B5AF-313B6DC2BFF6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09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70A7-7103-45C1-A3E0-DBAAC23EBFAC}" type="datetime1">
              <a:rPr lang="en-US" smtClean="0"/>
              <a:t>4/24/2025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0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576B-3E62-44CB-97C7-02AD3ED86226}" type="datetime1">
              <a:rPr lang="en-US" smtClean="0"/>
              <a:t>4/24/2025</a:t>
            </a:fld>
            <a:endParaRPr lang="en-US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8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7D1A-A4F1-4ABA-B567-713BF23F83C4}" type="datetime1">
              <a:rPr lang="en-US" smtClean="0"/>
              <a:t>4/24/2025</a:t>
            </a:fld>
            <a:endParaRPr lang="en-US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53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0690-933A-47C4-B4E1-A2B213789BCF}" type="datetime1">
              <a:rPr lang="en-US" smtClean="0"/>
              <a:t>4/24/2025</a:t>
            </a:fld>
            <a:endParaRPr lang="en-US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Firstname Lastname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9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1C35-6CDF-40D9-A9D6-7A72B92382CD}" type="datetime1">
              <a:rPr lang="en-US" smtClean="0"/>
              <a:t>4/24/2025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7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C905-3B40-435A-A454-F67262F798A4}" type="datetime1">
              <a:rPr lang="en-US" smtClean="0"/>
              <a:t>4/24/2025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49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1986-2E0E-476C-B598-40CCDD496C62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1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D50A2-6C07-4003-90E5-75F8A1199BDE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00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sk" smtClean="0"/>
              <a:pPr/>
              <a:t>‹#›</a:t>
            </a:fld>
            <a:endParaRPr lang="sk"/>
          </a:p>
        </p:txBody>
      </p:sp>
    </p:spTree>
    <p:extLst>
      <p:ext uri="{BB962C8B-B14F-4D97-AF65-F5344CB8AC3E}">
        <p14:creationId xmlns:p14="http://schemas.microsoft.com/office/powerpoint/2010/main" val="368551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5410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F24F4-ADB7-468C-8E7C-6A56CF28415B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2117" y="64463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algn="l"/>
            <a:r>
              <a:rPr lang="en-US"/>
              <a:t>Firstname Lastname</a:t>
            </a:r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Obrázek 5">
            <a:extLst>
              <a:ext uri="{FF2B5EF4-FFF2-40B4-BE49-F238E27FC236}">
                <a16:creationId xmlns:a16="http://schemas.microsoft.com/office/drawing/2014/main" id="{DE75A40E-D56A-4B92-BFD5-64251D3FAB86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7" y="5811126"/>
            <a:ext cx="951799" cy="66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60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video" Target="../media/media2.mp4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FE2496-C63F-48D7-8681-0B314E44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Peter </a:t>
            </a:r>
            <a:r>
              <a:rPr lang="sk-SK" dirty="0"/>
              <a:t>Ďurica</a:t>
            </a:r>
            <a:endParaRPr lang="en-US" dirty="0"/>
          </a:p>
        </p:txBody>
      </p:sp>
      <p:pic>
        <p:nvPicPr>
          <p:cNvPr id="3" name="sun120">
            <a:hlinkClick r:id="" action="ppaction://media"/>
            <a:extLst>
              <a:ext uri="{FF2B5EF4-FFF2-40B4-BE49-F238E27FC236}">
                <a16:creationId xmlns:a16="http://schemas.microsoft.com/office/drawing/2014/main" id="{BD7FD68C-F8BC-F7AE-A71C-EB8A1372D92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2575" y="3198346"/>
            <a:ext cx="2329845" cy="2329845"/>
          </a:xfrm>
          <a:prstGeom prst="rect">
            <a:avLst/>
          </a:prstGeom>
        </p:spPr>
      </p:pic>
      <p:pic>
        <p:nvPicPr>
          <p:cNvPr id="4" name="walls120">
            <a:hlinkClick r:id="" action="ppaction://media"/>
            <a:extLst>
              <a:ext uri="{FF2B5EF4-FFF2-40B4-BE49-F238E27FC236}">
                <a16:creationId xmlns:a16="http://schemas.microsoft.com/office/drawing/2014/main" id="{6DDF5CB7-FFB0-4C5A-F5A5-3999EF75CD9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42575" y="237993"/>
            <a:ext cx="2329844" cy="23298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1D191E-3210-25CC-FDE2-CC6EEE1380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1136" y="237993"/>
            <a:ext cx="8202170" cy="25149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B3915F-A9CE-59C6-A9E7-5ACBA6415B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1136" y="3198346"/>
            <a:ext cx="8202170" cy="35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88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4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834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63295-9B79-8F37-CB53-A9516948A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9227FC-7DB1-E856-BF8C-66A21F004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Peter </a:t>
            </a:r>
            <a:r>
              <a:rPr lang="sk-SK" dirty="0"/>
              <a:t>Ďurica</a:t>
            </a:r>
            <a:endParaRPr lang="en-US" dirty="0"/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038D5B56-9418-C944-699D-1BE2400775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20" y="1702445"/>
            <a:ext cx="2513685" cy="3014806"/>
          </a:xfrm>
          <a:prstGeom prst="rect">
            <a:avLst/>
          </a:prstGeom>
        </p:spPr>
      </p:pic>
      <p:pic>
        <p:nvPicPr>
          <p:cNvPr id="11" name="Picture 10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B20239ED-407B-7579-AEC1-37E8FD344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135" y="80236"/>
            <a:ext cx="8416706" cy="3348763"/>
          </a:xfrm>
          <a:prstGeom prst="rect">
            <a:avLst/>
          </a:prstGeom>
        </p:spPr>
      </p:pic>
      <p:pic>
        <p:nvPicPr>
          <p:cNvPr id="13" name="Picture 12" descr="A graph of red and blue bars&#10;&#10;AI-generated content may be incorrect.">
            <a:extLst>
              <a:ext uri="{FF2B5EF4-FFF2-40B4-BE49-F238E27FC236}">
                <a16:creationId xmlns:a16="http://schemas.microsoft.com/office/drawing/2014/main" id="{D79F0DCD-6B2E-B6CF-4DD6-1152E43C24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135" y="3509237"/>
            <a:ext cx="8459144" cy="334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8510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5DCBF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5DCBF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3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1809</TotalTime>
  <Words>515</Words>
  <Application>Microsoft Office PowerPoint</Application>
  <PresentationFormat>Widescreen</PresentationFormat>
  <Paragraphs>39</Paragraphs>
  <Slides>2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Motiv Office</vt:lpstr>
      <vt:lpstr>PowerPoint Presentation</vt:lpstr>
      <vt:lpstr>PowerPoint Presentation</vt:lpstr>
    </vt:vector>
  </TitlesOfParts>
  <Company>FIT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Interfaces on Mobile Devices</dc:title>
  <dc:creator>Adam Herout</dc:creator>
  <cp:lastModifiedBy>Ďurica Peter (230853)</cp:lastModifiedBy>
  <cp:revision>115</cp:revision>
  <dcterms:created xsi:type="dcterms:W3CDTF">2015-10-29T07:42:11Z</dcterms:created>
  <dcterms:modified xsi:type="dcterms:W3CDTF">2025-04-24T13:20:25Z</dcterms:modified>
</cp:coreProperties>
</file>